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71" r:id="rId7"/>
    <p:sldId id="269" r:id="rId8"/>
    <p:sldId id="27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6" d="100"/>
          <a:sy n="56" d="100"/>
        </p:scale>
        <p:origin x="1000" y="4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25176-032D-7EF8-6B95-AA88D97FB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83B1E-1C48-F163-703C-653353156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3A642-6103-6B67-25CD-E8206932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CC1E2-3E45-5181-1704-B920F857C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E659C-96C3-684B-2AD9-FD74DD41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9968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9EA4-78DD-E95D-4D5E-5452069D6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FE7E7-2D30-7DFA-A29E-686789916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B3D96-E58C-2202-B90D-8CEBBC24E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1EC5E-945B-C5BD-8812-97F870A3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7FD5C-9471-DBBB-24D3-9BFBA193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3176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FDB5-A866-2531-B45B-A9ABD63E4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CCC5C-75D8-43AB-0F8A-1F21B3D55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1147E-2407-ABD2-694F-A291C7F26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ED575-1A8D-8B9D-3337-A1C959E3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1A727-41ED-2265-F83A-182FB905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909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9E4F-C70A-E4EA-16A8-26ECD985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2251-293D-BA13-0171-8A95763A9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4FD52-A20E-4BF8-77B4-3BC70DA6E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869A0-10B6-7EA9-B2A8-360070CD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8AD44-DE0C-593A-3FD0-034CB4BBD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543E4-6AED-1CCA-CD43-808D9AA0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492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38B59-D500-FA3A-E920-54DD9E1A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E6A1F-8B75-45D7-4AFF-46F432B8D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A0E19-2DB0-319B-3513-212BEACC6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4313BC-E528-107C-E227-12D522D52D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E566F-4C03-47B6-73DB-715CE48FC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A1435-8050-8D97-DA59-E75CAD34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8084C1-A1DF-018C-7765-30D0CF617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AA3CD7-B7CC-3067-C16D-C1591D73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974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0F38-EE12-B665-B1D3-CB168F68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7F78F3-3F55-C5E9-B8CB-87C4AB59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A39B8-5BD4-1273-A502-DA31B74FB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763B9-97E7-8E33-6AA9-A5B1D72C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98744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1FFD3F-2D38-9345-A6BF-DCF53FC1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CF1AEF-10A0-7456-DE61-9DF6236D7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56035-B7EA-761D-E538-F5BD833E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309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A674-0704-06A3-B3EA-C6F49908C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35306-68CF-8AE6-40C5-174B0E712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D401A-F3DD-0347-DD3D-EA0306639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B4C06-BAE0-35E3-73BB-12EE33EFD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B864A-6CBF-4C69-C4EC-6813DD06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92579-A4C4-12B8-4ECA-8AECD2A1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272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60D2-5722-832D-211A-BEF0A4B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FB0BEE-C820-F6A4-761B-7B70AA9A9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8560A-E587-0E03-1BB0-E1F863C2B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38E3C-0C53-08FD-DE7B-49686FB7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58530-80AE-94F4-B8C5-842862FE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583DA-2BB7-C366-F4A3-5ECE9BC27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843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5C18-769F-8EA8-A88A-02DAC0A99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1243D-636E-49C9-FD4A-8B9434251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00179-4A65-6152-38C0-1BE0341AE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BDBB2-1F27-1230-889D-7D120B777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63DA4-CB39-2731-4CF9-FDF79B14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28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A05505-A02D-5341-C373-7F29A72F5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1D063-DC46-F029-2E83-AC160AEE5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AED1-02DD-CAC3-DD79-947507F2D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E3C62-9084-9D30-4488-7561F751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69A01-AC11-A50E-093E-EE51EEBCC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43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BCFCE-12E0-3916-0669-5C5BF2BB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E0C0A-7863-528D-FA69-2F5D3FC3C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C39E4-8309-1A88-E21D-AA82F715B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E5D03-15DE-4424-B1E2-627E1F4C5BCA}" type="datetimeFigureOut">
              <a:rPr lang="en-ID" smtClean="0"/>
              <a:t>12/05/2026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8EDFB-4285-4A13-ECD4-46EFC9812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D07AF-D40B-B7BB-7D16-3CD6C7A0A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C85BA-EDBE-4C39-BF1F-14108E98ED1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71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EEFD-4724-8984-BD29-0D566FA0B3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Enterprise AI Chatbot</a:t>
            </a:r>
            <a:endParaRPr lang="en-ID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62B35-8BA0-DFF5-4B09-DB61E6B36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Secure Retrieval-Augmented Generation (RAG) Infrastructure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08785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783A6-A8FF-3B74-264B-680BA5F44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62785"/>
            <a:ext cx="6096000" cy="30206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*</a:t>
            </a:r>
            <a:r>
              <a:rPr lang="en-ID" b="1" dirty="0" err="1"/>
              <a:t>Catatan</a:t>
            </a:r>
            <a:r>
              <a:rPr lang="en-ID" b="1" dirty="0"/>
              <a:t>/Disclaimer Visual:</a:t>
            </a:r>
            <a:r>
              <a:rPr lang="en-ID" dirty="0"/>
              <a:t> </a:t>
            </a:r>
            <a:r>
              <a:rPr lang="en-ID" i="1" dirty="0"/>
              <a:t>Gambar </a:t>
            </a:r>
            <a:r>
              <a:rPr lang="en-ID" i="1" dirty="0" err="1"/>
              <a:t>atau</a:t>
            </a:r>
            <a:r>
              <a:rPr lang="en-ID" i="1" dirty="0"/>
              <a:t> </a:t>
            </a:r>
            <a:r>
              <a:rPr lang="en-ID" i="1" dirty="0" err="1"/>
              <a:t>representasi</a:t>
            </a:r>
            <a:r>
              <a:rPr lang="en-ID" i="1" dirty="0"/>
              <a:t> </a:t>
            </a:r>
            <a:r>
              <a:rPr lang="en-ID" i="1" dirty="0" err="1"/>
              <a:t>produk</a:t>
            </a:r>
            <a:r>
              <a:rPr lang="en-ID" i="1" dirty="0"/>
              <a:t> yang </a:t>
            </a:r>
            <a:r>
              <a:rPr lang="en-ID" i="1" dirty="0" err="1"/>
              <a:t>ditampilkan</a:t>
            </a:r>
            <a:r>
              <a:rPr lang="en-ID" i="1" dirty="0"/>
              <a:t> </a:t>
            </a:r>
            <a:r>
              <a:rPr lang="en-ID" i="1" dirty="0" err="1"/>
              <a:t>hanya</a:t>
            </a:r>
            <a:r>
              <a:rPr lang="en-ID" i="1" dirty="0"/>
              <a:t> </a:t>
            </a:r>
            <a:r>
              <a:rPr lang="en-ID" i="1" dirty="0" err="1"/>
              <a:t>bertujuan</a:t>
            </a:r>
            <a:r>
              <a:rPr lang="en-ID" i="1" dirty="0"/>
              <a:t> </a:t>
            </a:r>
            <a:r>
              <a:rPr lang="en-ID" i="1" dirty="0" err="1"/>
              <a:t>sebagai</a:t>
            </a:r>
            <a:r>
              <a:rPr lang="en-ID" i="1" dirty="0"/>
              <a:t> </a:t>
            </a:r>
            <a:r>
              <a:rPr lang="en-ID" i="1" dirty="0" err="1"/>
              <a:t>ilustrasi</a:t>
            </a:r>
            <a:r>
              <a:rPr lang="en-ID" i="1" dirty="0"/>
              <a:t>/</a:t>
            </a:r>
            <a:r>
              <a:rPr lang="en-ID" i="1" dirty="0" err="1"/>
              <a:t>gambaran</a:t>
            </a:r>
            <a:r>
              <a:rPr lang="en-ID" i="1" dirty="0"/>
              <a:t> </a:t>
            </a:r>
            <a:r>
              <a:rPr lang="en-ID" i="1" dirty="0" err="1"/>
              <a:t>umum</a:t>
            </a:r>
            <a:r>
              <a:rPr lang="en-ID" i="1" dirty="0"/>
              <a:t>. Detail </a:t>
            </a:r>
            <a:r>
              <a:rPr lang="en-ID" i="1" dirty="0" err="1"/>
              <a:t>produk</a:t>
            </a:r>
            <a:r>
              <a:rPr lang="en-ID" i="1" dirty="0"/>
              <a:t> </a:t>
            </a:r>
            <a:r>
              <a:rPr lang="en-ID" i="1" dirty="0" err="1"/>
              <a:t>dapat</a:t>
            </a:r>
            <a:r>
              <a:rPr lang="en-ID" i="1" dirty="0"/>
              <a:t> </a:t>
            </a:r>
            <a:r>
              <a:rPr lang="en-ID" i="1" dirty="0" err="1"/>
              <a:t>berubah</a:t>
            </a:r>
            <a:r>
              <a:rPr lang="en-ID" i="1" dirty="0"/>
              <a:t> </a:t>
            </a:r>
            <a:r>
              <a:rPr lang="en-ID" i="1" dirty="0" err="1"/>
              <a:t>sewaktu-waktu</a:t>
            </a:r>
            <a:r>
              <a:rPr lang="en-ID" i="1" dirty="0"/>
              <a:t> </a:t>
            </a:r>
            <a:r>
              <a:rPr lang="en-ID" i="1" dirty="0" err="1"/>
              <a:t>mengikuti</a:t>
            </a:r>
            <a:r>
              <a:rPr lang="en-ID" i="1" dirty="0"/>
              <a:t> </a:t>
            </a:r>
            <a:r>
              <a:rPr lang="en-ID" i="1" dirty="0" err="1"/>
              <a:t>kebijakan</a:t>
            </a:r>
            <a:r>
              <a:rPr lang="en-ID" i="1" dirty="0"/>
              <a:t> </a:t>
            </a:r>
            <a:r>
              <a:rPr lang="en-ID" i="1" dirty="0" err="1"/>
              <a:t>pengembangan</a:t>
            </a:r>
            <a:r>
              <a:rPr lang="en-ID" i="1" dirty="0"/>
              <a:t> </a:t>
            </a:r>
            <a:r>
              <a:rPr lang="en-ID" i="1" dirty="0" err="1"/>
              <a:t>terbaru</a:t>
            </a:r>
            <a:r>
              <a:rPr lang="en-ID" i="1" dirty="0"/>
              <a:t>.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67D673-410A-8577-D969-EEAD9E3F7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1" y="108377"/>
            <a:ext cx="4297680" cy="668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01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CEA51-5032-6B72-29C5-2C0CFE99F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Arsitektur</a:t>
            </a:r>
            <a:r>
              <a:rPr lang="en-US" b="1" dirty="0"/>
              <a:t> </a:t>
            </a:r>
            <a:r>
              <a:rPr lang="en-US" b="1" dirty="0" err="1"/>
              <a:t>Mesin</a:t>
            </a:r>
            <a:r>
              <a:rPr lang="en-US" b="1" dirty="0"/>
              <a:t> RAG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471C0-5932-09F4-C603-9B9673EFC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3200" b="1" dirty="0"/>
              <a:t>Retrieval-Augmented Generation (RAG)</a:t>
            </a:r>
          </a:p>
          <a:p>
            <a:r>
              <a:rPr lang="en-ID" sz="3200" dirty="0" err="1"/>
              <a:t>Setiap</a:t>
            </a:r>
            <a:r>
              <a:rPr lang="en-ID" sz="3200" dirty="0"/>
              <a:t> </a:t>
            </a:r>
            <a:r>
              <a:rPr lang="en-ID" sz="3200" dirty="0" err="1"/>
              <a:t>pertanyaan</a:t>
            </a:r>
            <a:r>
              <a:rPr lang="en-ID" sz="3200" dirty="0"/>
              <a:t> </a:t>
            </a:r>
            <a:r>
              <a:rPr lang="en-ID" sz="3200" dirty="0" err="1"/>
              <a:t>memicu</a:t>
            </a:r>
            <a:r>
              <a:rPr lang="en-ID" sz="3200" dirty="0"/>
              <a:t> </a:t>
            </a:r>
            <a:r>
              <a:rPr lang="en-ID" sz="3200" dirty="0" err="1"/>
              <a:t>pencarian</a:t>
            </a:r>
            <a:r>
              <a:rPr lang="en-ID" sz="3200" dirty="0"/>
              <a:t> </a:t>
            </a:r>
            <a:r>
              <a:rPr lang="en-ID" sz="3200" dirty="0" err="1"/>
              <a:t>vektor</a:t>
            </a:r>
            <a:r>
              <a:rPr lang="en-ID" sz="3200" dirty="0"/>
              <a:t>. AI </a:t>
            </a:r>
            <a:r>
              <a:rPr lang="en-ID" sz="3200" dirty="0" err="1"/>
              <a:t>hanya</a:t>
            </a:r>
            <a:r>
              <a:rPr lang="en-ID" sz="3200" dirty="0"/>
              <a:t> "</a:t>
            </a:r>
            <a:r>
              <a:rPr lang="en-ID" sz="3200" dirty="0" err="1"/>
              <a:t>mengetahui</a:t>
            </a:r>
            <a:r>
              <a:rPr lang="en-ID" sz="3200" dirty="0"/>
              <a:t>" </a:t>
            </a:r>
            <a:r>
              <a:rPr lang="en-ID" sz="3200" dirty="0" err="1"/>
              <a:t>apa</a:t>
            </a:r>
            <a:r>
              <a:rPr lang="en-ID" sz="3200" dirty="0"/>
              <a:t> yang </a:t>
            </a:r>
            <a:r>
              <a:rPr lang="en-ID" sz="3200" dirty="0" err="1"/>
              <a:t>diambil</a:t>
            </a:r>
            <a:r>
              <a:rPr lang="en-ID" sz="3200" dirty="0"/>
              <a:t> </a:t>
            </a:r>
            <a:r>
              <a:rPr lang="en-ID" sz="3200" dirty="0" err="1"/>
              <a:t>dari</a:t>
            </a:r>
            <a:r>
              <a:rPr lang="en-ID" sz="3200" dirty="0"/>
              <a:t> database Anda. Jika </a:t>
            </a:r>
            <a:r>
              <a:rPr lang="en-ID" sz="3200" dirty="0" err="1"/>
              <a:t>jawaban</a:t>
            </a:r>
            <a:r>
              <a:rPr lang="en-ID" sz="3200" dirty="0"/>
              <a:t> </a:t>
            </a:r>
            <a:r>
              <a:rPr lang="en-ID" sz="3200" dirty="0" err="1"/>
              <a:t>tidak</a:t>
            </a:r>
            <a:r>
              <a:rPr lang="en-ID" sz="3200" dirty="0"/>
              <a:t> </a:t>
            </a:r>
            <a:r>
              <a:rPr lang="en-ID" sz="3200" dirty="0" err="1"/>
              <a:t>ada</a:t>
            </a:r>
            <a:r>
              <a:rPr lang="en-ID" sz="3200" dirty="0"/>
              <a:t> </a:t>
            </a:r>
            <a:r>
              <a:rPr lang="en-ID" sz="3200" dirty="0" err="1"/>
              <a:t>dalam</a:t>
            </a:r>
            <a:r>
              <a:rPr lang="en-ID" sz="3200" dirty="0"/>
              <a:t> data Anda, AI </a:t>
            </a:r>
            <a:r>
              <a:rPr lang="en-ID" sz="3200" dirty="0" err="1"/>
              <a:t>diinstruksikan</a:t>
            </a:r>
            <a:r>
              <a:rPr lang="en-ID" sz="3200" dirty="0"/>
              <a:t> </a:t>
            </a:r>
            <a:r>
              <a:rPr lang="en-ID" sz="3200" dirty="0" err="1"/>
              <a:t>untuk</a:t>
            </a:r>
            <a:r>
              <a:rPr lang="en-ID" sz="3200" dirty="0"/>
              <a:t> </a:t>
            </a:r>
            <a:r>
              <a:rPr lang="en-ID" sz="3200" dirty="0" err="1"/>
              <a:t>mengatakan</a:t>
            </a:r>
            <a:r>
              <a:rPr lang="en-ID" sz="3200" dirty="0"/>
              <a:t> "Di Luar </a:t>
            </a:r>
            <a:r>
              <a:rPr lang="en-ID" sz="3200" dirty="0" err="1"/>
              <a:t>Konteks</a:t>
            </a:r>
            <a:r>
              <a:rPr lang="en-ID" sz="3200" dirty="0"/>
              <a:t>" </a:t>
            </a:r>
            <a:r>
              <a:rPr lang="en-ID" sz="3200" dirty="0" err="1"/>
              <a:t>daripada</a:t>
            </a:r>
            <a:r>
              <a:rPr lang="en-ID" sz="3200" dirty="0"/>
              <a:t> </a:t>
            </a:r>
            <a:r>
              <a:rPr lang="en-ID" sz="3200" dirty="0" err="1"/>
              <a:t>menebak-nebak</a:t>
            </a:r>
            <a:r>
              <a:rPr lang="en-ID" sz="3200" dirty="0"/>
              <a:t>.</a:t>
            </a:r>
          </a:p>
          <a:p>
            <a:r>
              <a:rPr lang="en-ID" sz="3200" dirty="0"/>
              <a:t>Hal </a:t>
            </a:r>
            <a:r>
              <a:rPr lang="en-ID" sz="3200" dirty="0" err="1"/>
              <a:t>ini</a:t>
            </a:r>
            <a:r>
              <a:rPr lang="en-ID" sz="3200" dirty="0"/>
              <a:t> </a:t>
            </a:r>
            <a:r>
              <a:rPr lang="en-ID" sz="3200" dirty="0" err="1"/>
              <a:t>menciptakan</a:t>
            </a:r>
            <a:r>
              <a:rPr lang="en-ID" sz="3200" dirty="0"/>
              <a:t> </a:t>
            </a:r>
            <a:r>
              <a:rPr lang="en-ID" sz="3200" dirty="0" err="1"/>
              <a:t>penghalang</a:t>
            </a:r>
            <a:r>
              <a:rPr lang="en-ID" sz="3200" dirty="0"/>
              <a:t> digital </a:t>
            </a:r>
            <a:r>
              <a:rPr lang="en-ID" sz="3200" dirty="0" err="1"/>
              <a:t>terhadap</a:t>
            </a:r>
            <a:r>
              <a:rPr lang="en-ID" sz="3200" dirty="0"/>
              <a:t> </a:t>
            </a:r>
            <a:r>
              <a:rPr lang="en-ID" sz="3200" dirty="0" err="1"/>
              <a:t>misinformasi</a:t>
            </a:r>
            <a:r>
              <a:rPr lang="en-ID" sz="3200" dirty="0"/>
              <a:t> dan </a:t>
            </a:r>
            <a:r>
              <a:rPr lang="en-ID" sz="3200" dirty="0" err="1"/>
              <a:t>memastikan</a:t>
            </a:r>
            <a:r>
              <a:rPr lang="en-ID" sz="3200" dirty="0"/>
              <a:t> </a:t>
            </a:r>
            <a:r>
              <a:rPr lang="en-ID" sz="3200" dirty="0" err="1"/>
              <a:t>kepatuhan</a:t>
            </a:r>
            <a:r>
              <a:rPr lang="en-ID" sz="3200" dirty="0"/>
              <a:t> </a:t>
            </a:r>
            <a:r>
              <a:rPr lang="en-ID" sz="3200" dirty="0" err="1"/>
              <a:t>terhadap</a:t>
            </a:r>
            <a:r>
              <a:rPr lang="en-ID" sz="3200" dirty="0"/>
              <a:t> </a:t>
            </a:r>
            <a:r>
              <a:rPr lang="en-ID" sz="3200" dirty="0" err="1"/>
              <a:t>kebijakan</a:t>
            </a:r>
            <a:r>
              <a:rPr lang="en-ID" sz="3200" dirty="0"/>
              <a:t> </a:t>
            </a:r>
            <a:r>
              <a:rPr lang="en-ID" sz="3200" dirty="0" err="1"/>
              <a:t>perusahaan</a:t>
            </a:r>
            <a:r>
              <a:rPr lang="en-ID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965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72A35F-EFC3-567F-3D9B-6840DD051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566" y="1154430"/>
            <a:ext cx="10021788" cy="462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72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CF4EDF-C409-36F5-37E8-F9C056CA2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5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ard 1">
            <a:extLst>
              <a:ext uri="{FF2B5EF4-FFF2-40B4-BE49-F238E27FC236}">
                <a16:creationId xmlns:a16="http://schemas.microsoft.com/office/drawing/2014/main" id="{E7EFAF77-5F6F-CAC2-E6C3-20E91A58117A}"/>
              </a:ext>
            </a:extLst>
          </p:cNvPr>
          <p:cNvSpPr/>
          <p:nvPr/>
        </p:nvSpPr>
        <p:spPr>
          <a:xfrm>
            <a:off x="285750" y="982980"/>
            <a:ext cx="777240" cy="994410"/>
          </a:xfrm>
          <a:prstGeom prst="flowChartPunchedCar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PDF</a:t>
            </a:r>
            <a:endParaRPr lang="en-ID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9B88A7-D1C9-C7DB-CF73-80D7EC58A7C6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062990" y="1474469"/>
            <a:ext cx="514350" cy="5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D73D888-A3A0-0E2F-7A29-D06B7F426250}"/>
              </a:ext>
            </a:extLst>
          </p:cNvPr>
          <p:cNvSpPr/>
          <p:nvPr/>
        </p:nvSpPr>
        <p:spPr>
          <a:xfrm>
            <a:off x="1577340" y="437196"/>
            <a:ext cx="1920240" cy="20745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&lt;paragraph&gt;</a:t>
            </a:r>
            <a:endParaRPr lang="en-ID" dirty="0"/>
          </a:p>
          <a:p>
            <a:r>
              <a:rPr lang="en-US" dirty="0"/>
              <a:t>&lt;paragraph&gt;</a:t>
            </a:r>
          </a:p>
          <a:p>
            <a:r>
              <a:rPr lang="en-US" dirty="0"/>
              <a:t>&lt;paragraph&gt;</a:t>
            </a:r>
          </a:p>
          <a:p>
            <a:r>
              <a:rPr lang="en-US" dirty="0"/>
              <a:t>&lt;paragraph&gt;</a:t>
            </a:r>
          </a:p>
          <a:p>
            <a:r>
              <a:rPr lang="en-US" dirty="0"/>
              <a:t>&lt;paragraph&gt;</a:t>
            </a:r>
          </a:p>
          <a:p>
            <a:r>
              <a:rPr lang="en-US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6E97F-B59F-C1AE-2D0E-2143ED47533E}"/>
              </a:ext>
            </a:extLst>
          </p:cNvPr>
          <p:cNvSpPr txBox="1"/>
          <p:nvPr/>
        </p:nvSpPr>
        <p:spPr>
          <a:xfrm>
            <a:off x="987381" y="104798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</a:t>
            </a:r>
            <a:endParaRPr lang="en-ID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C714E8-A0A7-EBD7-3942-178697706441}"/>
              </a:ext>
            </a:extLst>
          </p:cNvPr>
          <p:cNvSpPr/>
          <p:nvPr/>
        </p:nvSpPr>
        <p:spPr>
          <a:xfrm>
            <a:off x="4069080" y="1105134"/>
            <a:ext cx="1554480" cy="7658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Full_text</a:t>
            </a:r>
            <a:endParaRPr lang="en-ID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6F350C-AFEA-33FA-206F-0E48C18DB928}"/>
              </a:ext>
            </a:extLst>
          </p:cNvPr>
          <p:cNvCxnSpPr>
            <a:stCxn id="7" idx="3"/>
          </p:cNvCxnSpPr>
          <p:nvPr/>
        </p:nvCxnSpPr>
        <p:spPr>
          <a:xfrm>
            <a:off x="3497580" y="1474469"/>
            <a:ext cx="571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E5A055F-408D-824C-935E-D56D698FB06A}"/>
              </a:ext>
            </a:extLst>
          </p:cNvPr>
          <p:cNvSpPr/>
          <p:nvPr/>
        </p:nvSpPr>
        <p:spPr>
          <a:xfrm>
            <a:off x="5863590" y="114300"/>
            <a:ext cx="6042660" cy="27417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2AFBAD-2BCA-1608-1C91-FB608F2DF9EA}"/>
              </a:ext>
            </a:extLst>
          </p:cNvPr>
          <p:cNvSpPr txBox="1"/>
          <p:nvPr/>
        </p:nvSpPr>
        <p:spPr>
          <a:xfrm>
            <a:off x="3487415" y="1077995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</a:t>
            </a:r>
            <a:endParaRPr lang="en-ID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125773E-5177-3AE0-0CAC-602604944DB7}"/>
              </a:ext>
            </a:extLst>
          </p:cNvPr>
          <p:cNvSpPr/>
          <p:nvPr/>
        </p:nvSpPr>
        <p:spPr>
          <a:xfrm>
            <a:off x="6103620" y="255035"/>
            <a:ext cx="1988820" cy="6136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&lt;paragraph&gt;</a:t>
            </a:r>
            <a:endParaRPr lang="en-ID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3265E1B-A231-7500-7168-FEFF8BE26896}"/>
              </a:ext>
            </a:extLst>
          </p:cNvPr>
          <p:cNvSpPr/>
          <p:nvPr/>
        </p:nvSpPr>
        <p:spPr>
          <a:xfrm>
            <a:off x="6103620" y="1167645"/>
            <a:ext cx="1988820" cy="6136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&lt;paragraph&gt;</a:t>
            </a:r>
            <a:endParaRPr lang="en-ID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6EE685-4532-08B9-1AF6-E0AF72F17B81}"/>
              </a:ext>
            </a:extLst>
          </p:cNvPr>
          <p:cNvSpPr/>
          <p:nvPr/>
        </p:nvSpPr>
        <p:spPr>
          <a:xfrm>
            <a:off x="6103620" y="2080255"/>
            <a:ext cx="1988820" cy="6136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&lt;paragraph&gt;</a:t>
            </a:r>
            <a:endParaRPr lang="en-ID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52C2EB-2D1E-E24C-1E16-8865C9599EA5}"/>
              </a:ext>
            </a:extLst>
          </p:cNvPr>
          <p:cNvCxnSpPr>
            <a:stCxn id="10" idx="6"/>
            <a:endCxn id="14" idx="2"/>
          </p:cNvCxnSpPr>
          <p:nvPr/>
        </p:nvCxnSpPr>
        <p:spPr>
          <a:xfrm flipV="1">
            <a:off x="5623560" y="561858"/>
            <a:ext cx="480060" cy="92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CBD90A-8E37-FE38-369F-8B987ABEE8B5}"/>
              </a:ext>
            </a:extLst>
          </p:cNvPr>
          <p:cNvCxnSpPr>
            <a:stCxn id="10" idx="6"/>
            <a:endCxn id="15" idx="2"/>
          </p:cNvCxnSpPr>
          <p:nvPr/>
        </p:nvCxnSpPr>
        <p:spPr>
          <a:xfrm flipV="1">
            <a:off x="5623560" y="1474468"/>
            <a:ext cx="480060" cy="1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AB69B8-A2D7-048A-0E14-9EC5814CB110}"/>
              </a:ext>
            </a:extLst>
          </p:cNvPr>
          <p:cNvCxnSpPr>
            <a:stCxn id="10" idx="6"/>
            <a:endCxn id="16" idx="2"/>
          </p:cNvCxnSpPr>
          <p:nvPr/>
        </p:nvCxnSpPr>
        <p:spPr>
          <a:xfrm>
            <a:off x="5623560" y="1488039"/>
            <a:ext cx="480060" cy="899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2403422-711B-59E2-D7C0-2817D1435C25}"/>
              </a:ext>
            </a:extLst>
          </p:cNvPr>
          <p:cNvSpPr/>
          <p:nvPr/>
        </p:nvSpPr>
        <p:spPr>
          <a:xfrm>
            <a:off x="8442960" y="316113"/>
            <a:ext cx="3291840" cy="4914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/>
              <a:t>[-0.039430406,0.062000494, …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BB4E7F4-F2BF-1BD0-AFD8-BD3A8EA09200}"/>
              </a:ext>
            </a:extLst>
          </p:cNvPr>
          <p:cNvSpPr/>
          <p:nvPr/>
        </p:nvSpPr>
        <p:spPr>
          <a:xfrm>
            <a:off x="8442960" y="1224443"/>
            <a:ext cx="3291840" cy="4914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/>
              <a:t>[-0.039430406,0.062000494, …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2C7455E-800C-3418-8206-3818B4380485}"/>
              </a:ext>
            </a:extLst>
          </p:cNvPr>
          <p:cNvSpPr/>
          <p:nvPr/>
        </p:nvSpPr>
        <p:spPr>
          <a:xfrm>
            <a:off x="8442960" y="2141333"/>
            <a:ext cx="3291840" cy="4914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/>
              <a:t>[-0.039430406,0.062000494, …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937FF9-135E-909A-F94E-F0556F171CF0}"/>
              </a:ext>
            </a:extLst>
          </p:cNvPr>
          <p:cNvCxnSpPr>
            <a:stCxn id="14" idx="6"/>
            <a:endCxn id="23" idx="1"/>
          </p:cNvCxnSpPr>
          <p:nvPr/>
        </p:nvCxnSpPr>
        <p:spPr>
          <a:xfrm flipV="1">
            <a:off x="8092440" y="561857"/>
            <a:ext cx="3505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21842DC-2DB9-5BBD-BFFA-73FC5C1F4CF6}"/>
              </a:ext>
            </a:extLst>
          </p:cNvPr>
          <p:cNvCxnSpPr>
            <a:stCxn id="15" idx="6"/>
            <a:endCxn id="24" idx="1"/>
          </p:cNvCxnSpPr>
          <p:nvPr/>
        </p:nvCxnSpPr>
        <p:spPr>
          <a:xfrm flipV="1">
            <a:off x="8092440" y="1470187"/>
            <a:ext cx="350520" cy="4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0987DBD-7424-5842-A0EA-6DEAAF9A1C24}"/>
              </a:ext>
            </a:extLst>
          </p:cNvPr>
          <p:cNvCxnSpPr>
            <a:stCxn id="16" idx="6"/>
            <a:endCxn id="25" idx="1"/>
          </p:cNvCxnSpPr>
          <p:nvPr/>
        </p:nvCxnSpPr>
        <p:spPr>
          <a:xfrm flipV="1">
            <a:off x="8092440" y="2387077"/>
            <a:ext cx="3505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Diagonal Corners Snipped 35">
            <a:extLst>
              <a:ext uri="{FF2B5EF4-FFF2-40B4-BE49-F238E27FC236}">
                <a16:creationId xmlns:a16="http://schemas.microsoft.com/office/drawing/2014/main" id="{88574AD0-88D1-67F3-A1BA-459680CC239B}"/>
              </a:ext>
            </a:extLst>
          </p:cNvPr>
          <p:cNvSpPr/>
          <p:nvPr/>
        </p:nvSpPr>
        <p:spPr>
          <a:xfrm>
            <a:off x="6096000" y="3351499"/>
            <a:ext cx="1996440" cy="834390"/>
          </a:xfrm>
          <a:prstGeom prst="snip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  <a:endParaRPr lang="en-ID" dirty="0"/>
          </a:p>
        </p:txBody>
      </p:sp>
      <p:sp>
        <p:nvSpPr>
          <p:cNvPr id="37" name="Rectangle: Diagonal Corners Snipped 36">
            <a:extLst>
              <a:ext uri="{FF2B5EF4-FFF2-40B4-BE49-F238E27FC236}">
                <a16:creationId xmlns:a16="http://schemas.microsoft.com/office/drawing/2014/main" id="{678B6651-3B7E-C25E-1333-10393A54822A}"/>
              </a:ext>
            </a:extLst>
          </p:cNvPr>
          <p:cNvSpPr/>
          <p:nvPr/>
        </p:nvSpPr>
        <p:spPr>
          <a:xfrm>
            <a:off x="8442960" y="3347218"/>
            <a:ext cx="3291840" cy="834390"/>
          </a:xfrm>
          <a:prstGeom prst="snip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vector</a:t>
            </a:r>
            <a:endParaRPr lang="en-ID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9A044A2-656E-9D56-42BC-8A784FC2A04E}"/>
              </a:ext>
            </a:extLst>
          </p:cNvPr>
          <p:cNvCxnSpPr>
            <a:stCxn id="16" idx="4"/>
            <a:endCxn id="36" idx="3"/>
          </p:cNvCxnSpPr>
          <p:nvPr/>
        </p:nvCxnSpPr>
        <p:spPr>
          <a:xfrm flipH="1">
            <a:off x="7094220" y="2693900"/>
            <a:ext cx="3810" cy="657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8291DDF-79AE-D3F3-401B-514E7E625D16}"/>
              </a:ext>
            </a:extLst>
          </p:cNvPr>
          <p:cNvCxnSpPr>
            <a:endCxn id="37" idx="3"/>
          </p:cNvCxnSpPr>
          <p:nvPr/>
        </p:nvCxnSpPr>
        <p:spPr>
          <a:xfrm flipH="1">
            <a:off x="10088880" y="2632821"/>
            <a:ext cx="3810" cy="71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owchart: Magnetic Disk 41">
            <a:extLst>
              <a:ext uri="{FF2B5EF4-FFF2-40B4-BE49-F238E27FC236}">
                <a16:creationId xmlns:a16="http://schemas.microsoft.com/office/drawing/2014/main" id="{E6F647BF-4327-085F-72FC-2FE0E9E29759}"/>
              </a:ext>
            </a:extLst>
          </p:cNvPr>
          <p:cNvSpPr/>
          <p:nvPr/>
        </p:nvSpPr>
        <p:spPr>
          <a:xfrm>
            <a:off x="8084820" y="4797203"/>
            <a:ext cx="1600200" cy="1672707"/>
          </a:xfrm>
          <a:prstGeom prst="flowChartMagneticDisk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  <a:endParaRPr lang="en-ID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40F972E-444B-8F0A-F1FA-87A4F9393498}"/>
              </a:ext>
            </a:extLst>
          </p:cNvPr>
          <p:cNvCxnSpPr>
            <a:stCxn id="36" idx="1"/>
            <a:endCxn id="42" idx="1"/>
          </p:cNvCxnSpPr>
          <p:nvPr/>
        </p:nvCxnSpPr>
        <p:spPr>
          <a:xfrm>
            <a:off x="7094220" y="4185889"/>
            <a:ext cx="1790700" cy="61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2362CF0-F6E2-A359-1BA1-A49A055D3E25}"/>
              </a:ext>
            </a:extLst>
          </p:cNvPr>
          <p:cNvCxnSpPr>
            <a:stCxn id="37" idx="1"/>
            <a:endCxn id="42" idx="1"/>
          </p:cNvCxnSpPr>
          <p:nvPr/>
        </p:nvCxnSpPr>
        <p:spPr>
          <a:xfrm flipH="1">
            <a:off x="8884920" y="4181608"/>
            <a:ext cx="1203960" cy="615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9ED891B3-B555-ADD1-0BEB-23730FDD6132}"/>
              </a:ext>
            </a:extLst>
          </p:cNvPr>
          <p:cNvSpPr/>
          <p:nvPr/>
        </p:nvSpPr>
        <p:spPr>
          <a:xfrm>
            <a:off x="0" y="3465513"/>
            <a:ext cx="610362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Flow upload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dokumen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database</a:t>
            </a:r>
          </a:p>
        </p:txBody>
      </p:sp>
    </p:spTree>
    <p:extLst>
      <p:ext uri="{BB962C8B-B14F-4D97-AF65-F5344CB8AC3E}">
        <p14:creationId xmlns:p14="http://schemas.microsoft.com/office/powerpoint/2010/main" val="2298754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BB649D-9164-3AC6-177B-82971C1A2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53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91133F-76B7-D804-3F21-97B3AD22E6DA}"/>
              </a:ext>
            </a:extLst>
          </p:cNvPr>
          <p:cNvSpPr/>
          <p:nvPr/>
        </p:nvSpPr>
        <p:spPr>
          <a:xfrm>
            <a:off x="765810" y="548640"/>
            <a:ext cx="2114550" cy="12230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</a:t>
            </a:r>
            <a:r>
              <a:rPr lang="en-US" dirty="0" err="1"/>
              <a:t>bertanya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qr</a:t>
            </a:r>
            <a:r>
              <a:rPr lang="en-US" dirty="0"/>
              <a:t> code?</a:t>
            </a:r>
            <a:endParaRPr lang="en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3F2BF3-3480-FBA6-1C57-62AF56216553}"/>
              </a:ext>
            </a:extLst>
          </p:cNvPr>
          <p:cNvSpPr/>
          <p:nvPr/>
        </p:nvSpPr>
        <p:spPr>
          <a:xfrm>
            <a:off x="3360420" y="182880"/>
            <a:ext cx="8652510" cy="650367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5179A3A-A7E9-9CC8-062E-CB8AFA33360A}"/>
              </a:ext>
            </a:extLst>
          </p:cNvPr>
          <p:cNvCxnSpPr>
            <a:stCxn id="2" idx="3"/>
          </p:cNvCxnSpPr>
          <p:nvPr/>
        </p:nvCxnSpPr>
        <p:spPr>
          <a:xfrm flipV="1">
            <a:off x="2880360" y="1154430"/>
            <a:ext cx="1371600" cy="5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564388C-486D-75FD-7012-808CF59E5D59}"/>
              </a:ext>
            </a:extLst>
          </p:cNvPr>
          <p:cNvSpPr/>
          <p:nvPr/>
        </p:nvSpPr>
        <p:spPr>
          <a:xfrm>
            <a:off x="4251960" y="388620"/>
            <a:ext cx="2937510" cy="15316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/>
              <a:t>[-0.08905798,0.03268189,-0.030815847,-0.04226862,-0.09454353, …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6C2D6D-6E2F-9243-1091-ECF54F760E6E}"/>
              </a:ext>
            </a:extLst>
          </p:cNvPr>
          <p:cNvCxnSpPr>
            <a:stCxn id="6" idx="3"/>
          </p:cNvCxnSpPr>
          <p:nvPr/>
        </p:nvCxnSpPr>
        <p:spPr>
          <a:xfrm>
            <a:off x="7189470" y="1154430"/>
            <a:ext cx="1177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C7F92BE-A617-E1A0-29DD-0EC70C958555}"/>
              </a:ext>
            </a:extLst>
          </p:cNvPr>
          <p:cNvSpPr/>
          <p:nvPr/>
        </p:nvSpPr>
        <p:spPr>
          <a:xfrm>
            <a:off x="8366760" y="582930"/>
            <a:ext cx="2809875" cy="1143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Query </a:t>
            </a:r>
            <a:r>
              <a:rPr lang="en-US" dirty="0" err="1"/>
              <a:t>ke</a:t>
            </a:r>
            <a:r>
              <a:rPr lang="en-US" dirty="0"/>
              <a:t> database:</a:t>
            </a:r>
            <a:br>
              <a:rPr lang="en-US" dirty="0"/>
            </a:br>
            <a:r>
              <a:rPr lang="en-US" dirty="0"/>
              <a:t>select content from </a:t>
            </a:r>
            <a:r>
              <a:rPr lang="en-US" dirty="0" err="1"/>
              <a:t>knowledge_base</a:t>
            </a:r>
            <a:r>
              <a:rPr lang="en-US" dirty="0"/>
              <a:t> where vector = &lt;</a:t>
            </a:r>
            <a:r>
              <a:rPr lang="en-US" b="1" dirty="0"/>
              <a:t>VECTOR</a:t>
            </a:r>
            <a:r>
              <a:rPr lang="en-US" dirty="0"/>
              <a:t>&gt;</a:t>
            </a:r>
            <a:endParaRPr lang="en-ID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DEC10A-66DF-78EA-6B81-CB5A0E832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906" y="2393489"/>
            <a:ext cx="2381582" cy="204816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0F36BA-B2E6-A8CE-F93F-816A91714362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9771697" y="1725930"/>
            <a:ext cx="1" cy="667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66EB752-7B87-E7D3-BCC8-3BB387DFFD75}"/>
              </a:ext>
            </a:extLst>
          </p:cNvPr>
          <p:cNvSpPr/>
          <p:nvPr/>
        </p:nvSpPr>
        <p:spPr>
          <a:xfrm>
            <a:off x="8585048" y="4804005"/>
            <a:ext cx="2377440" cy="16802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Full System Prompt = content + system prompt (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AI model) + history + ‘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qr</a:t>
            </a:r>
            <a:r>
              <a:rPr lang="en-US" dirty="0"/>
              <a:t> code?’</a:t>
            </a:r>
            <a:endParaRPr lang="en-ID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1B0D05-C88A-5450-CF18-3084FDFAED71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9771697" y="4441650"/>
            <a:ext cx="2071" cy="362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C5FDCC6-1926-B449-F3AD-FF819AD0878F}"/>
              </a:ext>
            </a:extLst>
          </p:cNvPr>
          <p:cNvSpPr/>
          <p:nvPr/>
        </p:nvSpPr>
        <p:spPr>
          <a:xfrm>
            <a:off x="6143625" y="4939463"/>
            <a:ext cx="2000250" cy="14092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err="1"/>
              <a:t>riwayat</a:t>
            </a:r>
            <a:r>
              <a:rPr lang="en-US" dirty="0"/>
              <a:t> + AI model proses Full System Prompt</a:t>
            </a:r>
            <a:endParaRPr lang="en-ID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95E31C-F07F-BE5D-8E1D-3F03F886FC7E}"/>
              </a:ext>
            </a:extLst>
          </p:cNvPr>
          <p:cNvSpPr/>
          <p:nvPr/>
        </p:nvSpPr>
        <p:spPr>
          <a:xfrm>
            <a:off x="3757613" y="4939463"/>
            <a:ext cx="2000250" cy="14092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Jawaban</a:t>
            </a:r>
            <a:r>
              <a:rPr lang="en-US" dirty="0"/>
              <a:t> AI</a:t>
            </a:r>
            <a:endParaRPr lang="en-ID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D3B4BF-DC4B-FEA9-7BC8-562DB5331D07}"/>
              </a:ext>
            </a:extLst>
          </p:cNvPr>
          <p:cNvCxnSpPr>
            <a:stCxn id="14" idx="1"/>
            <a:endCxn id="17" idx="3"/>
          </p:cNvCxnSpPr>
          <p:nvPr/>
        </p:nvCxnSpPr>
        <p:spPr>
          <a:xfrm flipH="1">
            <a:off x="8143875" y="5644110"/>
            <a:ext cx="4411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6600E0-2A3A-A01E-51A0-60710E78D28A}"/>
              </a:ext>
            </a:extLst>
          </p:cNvPr>
          <p:cNvCxnSpPr>
            <a:endCxn id="18" idx="3"/>
          </p:cNvCxnSpPr>
          <p:nvPr/>
        </p:nvCxnSpPr>
        <p:spPr>
          <a:xfrm flipH="1">
            <a:off x="5757863" y="5644110"/>
            <a:ext cx="3857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1037512-4978-71D2-62D4-ABB07151AFC8}"/>
              </a:ext>
            </a:extLst>
          </p:cNvPr>
          <p:cNvSpPr/>
          <p:nvPr/>
        </p:nvSpPr>
        <p:spPr>
          <a:xfrm>
            <a:off x="765810" y="4939463"/>
            <a:ext cx="2114550" cy="14092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/>
              <a:t>“QR Code, </a:t>
            </a:r>
            <a:r>
              <a:rPr lang="en-ID" dirty="0" err="1"/>
              <a:t>atau</a:t>
            </a:r>
            <a:r>
              <a:rPr lang="en-ID" dirty="0"/>
              <a:t> Quick Response Code,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matriks</a:t>
            </a:r>
            <a:r>
              <a:rPr lang="en-ID" dirty="0"/>
              <a:t> dua </a:t>
            </a:r>
            <a:r>
              <a:rPr lang="en-ID" dirty="0" err="1"/>
              <a:t>dimensi</a:t>
            </a:r>
            <a:r>
              <a:rPr lang="en-ID" dirty="0"/>
              <a:t> yang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…”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B626CB-AA8C-E2DB-CF04-86E954A922E1}"/>
              </a:ext>
            </a:extLst>
          </p:cNvPr>
          <p:cNvCxnSpPr>
            <a:stCxn id="18" idx="1"/>
            <a:endCxn id="23" idx="3"/>
          </p:cNvCxnSpPr>
          <p:nvPr/>
        </p:nvCxnSpPr>
        <p:spPr>
          <a:xfrm flipH="1">
            <a:off x="2880360" y="5644110"/>
            <a:ext cx="877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ADA4ABB-EBE2-346F-EC48-5DFD4DCC4E53}"/>
              </a:ext>
            </a:extLst>
          </p:cNvPr>
          <p:cNvSpPr/>
          <p:nvPr/>
        </p:nvSpPr>
        <p:spPr>
          <a:xfrm>
            <a:off x="5002400" y="3001625"/>
            <a:ext cx="21872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E1200-14FC-81AE-AF01-D8469D446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907" y="3030755"/>
            <a:ext cx="2377440" cy="14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00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F4B9-81DB-DAD8-FF62-ED739309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4000" b="1" dirty="0" err="1"/>
              <a:t>Dokumentasi</a:t>
            </a:r>
            <a:r>
              <a:rPr lang="en-ID" sz="4000" b="1" dirty="0"/>
              <a:t> Alur Proses Chatbot AI (RAG System)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0EA2-0556-6398-7D25-ED6974C59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b="1" dirty="0"/>
              <a:t>RAG (Retrieval-Augmented Generation)</a:t>
            </a:r>
            <a:r>
              <a:rPr lang="en-ID" dirty="0"/>
              <a:t>, yang </a:t>
            </a:r>
            <a:r>
              <a:rPr lang="en-ID" dirty="0" err="1"/>
              <a:t>berarti</a:t>
            </a:r>
            <a:r>
              <a:rPr lang="en-ID" dirty="0"/>
              <a:t> AI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menjawab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imajinasinya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, </a:t>
            </a:r>
            <a:r>
              <a:rPr lang="en-ID" dirty="0" err="1"/>
              <a:t>melainkan</a:t>
            </a:r>
            <a:r>
              <a:rPr lang="en-ID" dirty="0"/>
              <a:t> </a:t>
            </a:r>
            <a:r>
              <a:rPr lang="en-ID" dirty="0" err="1"/>
              <a:t>mencari</a:t>
            </a:r>
            <a:r>
              <a:rPr lang="en-ID" dirty="0"/>
              <a:t> data di database internal </a:t>
            </a:r>
            <a:r>
              <a:rPr lang="en-ID" dirty="0" err="1"/>
              <a:t>perusahaan</a:t>
            </a:r>
            <a:r>
              <a:rPr lang="en-ID" dirty="0"/>
              <a:t>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dahulu</a:t>
            </a:r>
            <a:r>
              <a:rPr lang="en-ID" dirty="0"/>
              <a:t>.</a:t>
            </a:r>
          </a:p>
          <a:p>
            <a:pPr marL="514350" indent="-514350">
              <a:buAutoNum type="arabicPeriod"/>
            </a:pPr>
            <a:r>
              <a:rPr lang="en-US" b="1" dirty="0" err="1"/>
              <a:t>Tahap</a:t>
            </a:r>
            <a:r>
              <a:rPr lang="en-US" b="1" dirty="0"/>
              <a:t> </a:t>
            </a:r>
            <a:r>
              <a:rPr lang="en-US" b="1" dirty="0" err="1"/>
              <a:t>Persiapan</a:t>
            </a:r>
            <a:r>
              <a:rPr lang="en-US" b="1" dirty="0"/>
              <a:t> Data (Ingestion Phase)</a:t>
            </a:r>
            <a:endParaRPr lang="en-ID" b="1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ID" b="1" dirty="0"/>
              <a:t>T</a:t>
            </a:r>
            <a:r>
              <a:rPr lang="fi-FI" b="1" dirty="0"/>
              <a:t>ahap Penerimaan Pesan (Input Phase)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ID" b="1" dirty="0" err="1"/>
              <a:t>Tahap</a:t>
            </a:r>
            <a:r>
              <a:rPr lang="en-ID" b="1" dirty="0"/>
              <a:t> </a:t>
            </a:r>
            <a:r>
              <a:rPr lang="en-ID" b="1" dirty="0" err="1"/>
              <a:t>Pencarian</a:t>
            </a:r>
            <a:r>
              <a:rPr lang="en-ID" b="1" dirty="0"/>
              <a:t> </a:t>
            </a:r>
            <a:r>
              <a:rPr lang="en-ID" b="1" dirty="0" err="1"/>
              <a:t>Informasi</a:t>
            </a:r>
            <a:r>
              <a:rPr lang="en-ID" b="1" dirty="0"/>
              <a:t> (Retrieval Phase)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fr-FR" b="1" dirty="0" err="1"/>
              <a:t>Tahap</a:t>
            </a:r>
            <a:r>
              <a:rPr lang="fr-FR" b="1" dirty="0"/>
              <a:t> </a:t>
            </a:r>
            <a:r>
              <a:rPr lang="fr-FR" b="1" dirty="0" err="1"/>
              <a:t>Pembuatan</a:t>
            </a:r>
            <a:r>
              <a:rPr lang="fr-FR" b="1" dirty="0"/>
              <a:t> </a:t>
            </a:r>
            <a:r>
              <a:rPr lang="fr-FR" b="1" dirty="0" err="1"/>
              <a:t>Jawaban</a:t>
            </a:r>
            <a:r>
              <a:rPr lang="fr-FR" b="1" dirty="0"/>
              <a:t> (Augmentation &amp; </a:t>
            </a:r>
            <a:r>
              <a:rPr lang="fr-FR" b="1" dirty="0" err="1"/>
              <a:t>Generation</a:t>
            </a:r>
            <a:r>
              <a:rPr lang="fr-FR" b="1" dirty="0"/>
              <a:t>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ID" b="1" dirty="0" err="1"/>
              <a:t>Tahap</a:t>
            </a:r>
            <a:r>
              <a:rPr lang="en-ID" b="1" dirty="0"/>
              <a:t> </a:t>
            </a:r>
            <a:r>
              <a:rPr lang="en-ID" b="1" dirty="0" err="1"/>
              <a:t>Pengiriman</a:t>
            </a:r>
            <a:r>
              <a:rPr lang="en-ID" b="1" dirty="0"/>
              <a:t> </a:t>
            </a:r>
            <a:r>
              <a:rPr lang="en-ID" b="1" dirty="0" err="1"/>
              <a:t>Jawaban</a:t>
            </a:r>
            <a:r>
              <a:rPr lang="en-ID" b="1" dirty="0"/>
              <a:t> (Output Phase)</a:t>
            </a:r>
          </a:p>
        </p:txBody>
      </p:sp>
    </p:spTree>
    <p:extLst>
      <p:ext uri="{BB962C8B-B14F-4D97-AF65-F5344CB8AC3E}">
        <p14:creationId xmlns:p14="http://schemas.microsoft.com/office/powerpoint/2010/main" val="365766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543B-4073-78B0-22CA-BD5A817B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Tahap</a:t>
            </a:r>
            <a:r>
              <a:rPr lang="en-US" b="1" dirty="0"/>
              <a:t> </a:t>
            </a:r>
            <a:r>
              <a:rPr lang="en-US" b="1" dirty="0" err="1"/>
              <a:t>Persiapan</a:t>
            </a:r>
            <a:r>
              <a:rPr lang="en-US" b="1" dirty="0"/>
              <a:t> Data (Ingestion Phase)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4B186-B392-E9C7-C4ED-AF5FBBB03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Knowledge Base:</a:t>
            </a:r>
            <a:r>
              <a:rPr lang="en-ID" dirty="0"/>
              <a:t> </a:t>
            </a:r>
            <a:r>
              <a:rPr lang="en-ID" dirty="0" err="1"/>
              <a:t>Dokumen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</a:t>
            </a:r>
            <a:r>
              <a:rPr lang="en-ID" dirty="0" err="1"/>
              <a:t>dikumpulkan</a:t>
            </a:r>
            <a:r>
              <a:rPr lang="en-ID" dirty="0"/>
              <a:t> (</a:t>
            </a:r>
            <a:r>
              <a:rPr lang="en-ID" dirty="0" err="1"/>
              <a:t>misal</a:t>
            </a:r>
            <a:r>
              <a:rPr lang="en-ID" dirty="0"/>
              <a:t>: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garansi</a:t>
            </a:r>
            <a:r>
              <a:rPr lang="en-ID" dirty="0"/>
              <a:t>,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).</a:t>
            </a:r>
          </a:p>
          <a:p>
            <a:r>
              <a:rPr lang="en-ID" b="1" dirty="0"/>
              <a:t>Embedding:</a:t>
            </a:r>
            <a:r>
              <a:rPr lang="en-ID" dirty="0"/>
              <a:t> Teks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angka-angka</a:t>
            </a:r>
            <a:r>
              <a:rPr lang="en-ID" dirty="0"/>
              <a:t> </a:t>
            </a:r>
            <a:r>
              <a:rPr lang="en-ID" dirty="0" err="1"/>
              <a:t>vektor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model </a:t>
            </a:r>
            <a:r>
              <a:rPr lang="en-ID" dirty="0" err="1"/>
              <a:t>SentenceTransformer</a:t>
            </a:r>
            <a:r>
              <a:rPr lang="en-ID" dirty="0"/>
              <a:t> ('all-MiniLM-L6-v2').</a:t>
            </a:r>
          </a:p>
          <a:p>
            <a:r>
              <a:rPr lang="en-ID" b="1" dirty="0"/>
              <a:t>Vector Database:</a:t>
            </a:r>
            <a:r>
              <a:rPr lang="en-ID" dirty="0"/>
              <a:t> Angka-</a:t>
            </a:r>
            <a:r>
              <a:rPr lang="en-ID" dirty="0" err="1"/>
              <a:t>angka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b="1" dirty="0"/>
              <a:t>PostgreSQL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ekstensi</a:t>
            </a:r>
            <a:r>
              <a:rPr lang="en-ID" dirty="0"/>
              <a:t> </a:t>
            </a:r>
            <a:r>
              <a:rPr lang="en-ID" dirty="0" err="1"/>
              <a:t>pgvector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8432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634F-8A5C-7113-74B9-6CB21A6C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b="1" dirty="0"/>
              <a:t>2. Tahap Penerimaan Pesan (Input Phase)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35C61-C725-995E-D466-B3B438A7D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User </a:t>
            </a:r>
            <a:r>
              <a:rPr lang="en-ID" dirty="0" err="1"/>
              <a:t>mengirim</a:t>
            </a:r>
            <a:r>
              <a:rPr lang="en-ID" dirty="0"/>
              <a:t> </a:t>
            </a:r>
            <a:r>
              <a:rPr lang="en-ID" dirty="0" err="1"/>
              <a:t>pesan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b="1" dirty="0"/>
              <a:t>WhatsApp API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b="1" dirty="0"/>
              <a:t>Website Chat Widget</a:t>
            </a:r>
            <a:r>
              <a:rPr lang="en-ID" dirty="0"/>
              <a:t>.</a:t>
            </a:r>
          </a:p>
          <a:p>
            <a:r>
              <a:rPr lang="en-ID" dirty="0" err="1"/>
              <a:t>Pesan</a:t>
            </a:r>
            <a:r>
              <a:rPr lang="en-ID" dirty="0"/>
              <a:t> </a:t>
            </a:r>
            <a:r>
              <a:rPr lang="en-ID" dirty="0" err="1"/>
              <a:t>diterima</a:t>
            </a:r>
            <a:r>
              <a:rPr lang="en-ID" dirty="0"/>
              <a:t> oleh server </a:t>
            </a:r>
            <a:r>
              <a:rPr lang="en-ID" b="1" dirty="0"/>
              <a:t>Flask (Python)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6931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258B6-F90A-93F8-2C82-60F39E18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3. </a:t>
            </a:r>
            <a:r>
              <a:rPr lang="en-ID" b="1" dirty="0" err="1"/>
              <a:t>Tahap</a:t>
            </a:r>
            <a:r>
              <a:rPr lang="en-ID" b="1" dirty="0"/>
              <a:t> </a:t>
            </a:r>
            <a:r>
              <a:rPr lang="en-ID" b="1" dirty="0" err="1"/>
              <a:t>Pencarian</a:t>
            </a:r>
            <a:r>
              <a:rPr lang="en-ID" b="1" dirty="0"/>
              <a:t> </a:t>
            </a:r>
            <a:r>
              <a:rPr lang="en-ID" b="1" dirty="0" err="1"/>
              <a:t>Informasi</a:t>
            </a:r>
            <a:r>
              <a:rPr lang="en-ID" b="1" dirty="0"/>
              <a:t> (Retrieval Phase)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C44EE-F367-4AB0-D14A-EAD75C708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user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vektor</a:t>
            </a:r>
            <a:r>
              <a:rPr lang="en-ID" dirty="0"/>
              <a:t>.</a:t>
            </a:r>
          </a:p>
          <a:p>
            <a:r>
              <a:rPr lang="en-ID" b="1" dirty="0"/>
              <a:t>Vector Search: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pencarian</a:t>
            </a:r>
            <a:r>
              <a:rPr lang="en-ID" dirty="0"/>
              <a:t> di PostgreSQL </a:t>
            </a:r>
            <a:r>
              <a:rPr lang="en-ID" dirty="0" err="1"/>
              <a:t>menggunakan</a:t>
            </a:r>
            <a:r>
              <a:rPr lang="en-ID" dirty="0"/>
              <a:t> operator </a:t>
            </a:r>
            <a:r>
              <a:rPr lang="en-ID" dirty="0" err="1"/>
              <a:t>kemiripan</a:t>
            </a:r>
            <a:r>
              <a:rPr lang="en-ID" dirty="0"/>
              <a:t> (cosine distance).</a:t>
            </a:r>
          </a:p>
          <a:p>
            <a:r>
              <a:rPr lang="en-ID" b="1" dirty="0"/>
              <a:t>Threshold Filtering: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memfilter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. </a:t>
            </a:r>
            <a:r>
              <a:rPr lang="en-ID" dirty="0" err="1"/>
              <a:t>Mencari</a:t>
            </a:r>
            <a:r>
              <a:rPr lang="en-ID" dirty="0"/>
              <a:t> </a:t>
            </a:r>
            <a:r>
              <a:rPr lang="en-ID" dirty="0" err="1"/>
              <a:t>kemiripan</a:t>
            </a:r>
            <a:r>
              <a:rPr lang="en-ID" dirty="0"/>
              <a:t> data di database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user.</a:t>
            </a:r>
          </a:p>
          <a:p>
            <a:r>
              <a:rPr lang="en-ID" b="1" dirty="0"/>
              <a:t>Strict Logic:</a:t>
            </a:r>
            <a:r>
              <a:rPr lang="en-ID" dirty="0"/>
              <a:t> Jika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data yang </a:t>
            </a:r>
            <a:r>
              <a:rPr lang="en-ID" dirty="0" err="1"/>
              <a:t>relevan</a:t>
            </a:r>
            <a:r>
              <a:rPr lang="en-ID" dirty="0"/>
              <a:t>,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pesan</a:t>
            </a:r>
            <a:r>
              <a:rPr lang="en-ID" dirty="0"/>
              <a:t> </a:t>
            </a:r>
            <a:r>
              <a:rPr lang="en-ID" dirty="0" err="1"/>
              <a:t>penolakan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bertanya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AI.</a:t>
            </a:r>
          </a:p>
        </p:txBody>
      </p:sp>
    </p:spTree>
    <p:extLst>
      <p:ext uri="{BB962C8B-B14F-4D97-AF65-F5344CB8AC3E}">
        <p14:creationId xmlns:p14="http://schemas.microsoft.com/office/powerpoint/2010/main" val="292894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2EE3-4703-7F73-7493-F63E313C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4. </a:t>
            </a:r>
            <a:r>
              <a:rPr lang="fr-FR" b="1" dirty="0" err="1"/>
              <a:t>Tahap</a:t>
            </a:r>
            <a:r>
              <a:rPr lang="fr-FR" b="1" dirty="0"/>
              <a:t> </a:t>
            </a:r>
            <a:r>
              <a:rPr lang="fr-FR" b="1" dirty="0" err="1"/>
              <a:t>Pembuatan</a:t>
            </a:r>
            <a:r>
              <a:rPr lang="fr-FR" b="1" dirty="0"/>
              <a:t> </a:t>
            </a:r>
            <a:r>
              <a:rPr lang="fr-FR" b="1" dirty="0" err="1"/>
              <a:t>Jawaban</a:t>
            </a:r>
            <a:r>
              <a:rPr lang="fr-FR" b="1" dirty="0"/>
              <a:t> (Augmentation &amp; </a:t>
            </a:r>
            <a:r>
              <a:rPr lang="fr-FR" b="1" dirty="0" err="1"/>
              <a:t>Generation</a:t>
            </a:r>
            <a:r>
              <a:rPr lang="fr-FR" b="1" dirty="0"/>
              <a:t>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A014C-9E13-9668-A29E-C43A5342D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Jika data </a:t>
            </a:r>
            <a:r>
              <a:rPr lang="en-ID" dirty="0" err="1"/>
              <a:t>ditemukan</a:t>
            </a:r>
            <a:r>
              <a:rPr lang="en-ID" dirty="0"/>
              <a:t>, data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dibungkus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b="1" dirty="0"/>
              <a:t>System Prompt</a:t>
            </a:r>
            <a:r>
              <a:rPr lang="en-ID" dirty="0"/>
              <a:t> yang </a:t>
            </a:r>
            <a:r>
              <a:rPr lang="en-ID" dirty="0" err="1"/>
              <a:t>kaku</a:t>
            </a:r>
            <a:r>
              <a:rPr lang="en-ID" dirty="0"/>
              <a:t>.</a:t>
            </a:r>
          </a:p>
          <a:p>
            <a:r>
              <a:rPr lang="en-ID" b="1" dirty="0"/>
              <a:t>Ollama (Gemma 3:4b):</a:t>
            </a:r>
            <a:r>
              <a:rPr lang="en-ID" dirty="0"/>
              <a:t> Server </a:t>
            </a:r>
            <a:r>
              <a:rPr lang="en-ID" dirty="0" err="1"/>
              <a:t>mengirimkan</a:t>
            </a:r>
            <a:r>
              <a:rPr lang="en-ID" dirty="0"/>
              <a:t> </a:t>
            </a:r>
            <a:r>
              <a:rPr lang="en-ID" dirty="0" err="1"/>
              <a:t>perintah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model AI.</a:t>
            </a:r>
          </a:p>
          <a:p>
            <a:r>
              <a:rPr lang="en-ID" dirty="0"/>
              <a:t>AI </a:t>
            </a:r>
            <a:r>
              <a:rPr lang="en-ID" dirty="0" err="1"/>
              <a:t>dilarang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di </a:t>
            </a:r>
            <a:r>
              <a:rPr lang="en-ID" dirty="0" err="1"/>
              <a:t>luar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 yang </a:t>
            </a:r>
            <a:r>
              <a:rPr lang="en-ID" dirty="0" err="1"/>
              <a:t>diberikan</a:t>
            </a:r>
            <a:r>
              <a:rPr lang="en-ID" dirty="0"/>
              <a:t> oleh database.</a:t>
            </a:r>
          </a:p>
        </p:txBody>
      </p:sp>
    </p:spTree>
    <p:extLst>
      <p:ext uri="{BB962C8B-B14F-4D97-AF65-F5344CB8AC3E}">
        <p14:creationId xmlns:p14="http://schemas.microsoft.com/office/powerpoint/2010/main" val="3446666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1B78-D686-E42C-6244-7AC6A3D4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5. </a:t>
            </a:r>
            <a:r>
              <a:rPr lang="en-ID" b="1" dirty="0" err="1"/>
              <a:t>Tahap</a:t>
            </a:r>
            <a:r>
              <a:rPr lang="en-ID" b="1" dirty="0"/>
              <a:t> </a:t>
            </a:r>
            <a:r>
              <a:rPr lang="en-ID" b="1" dirty="0" err="1"/>
              <a:t>Pengiriman</a:t>
            </a:r>
            <a:r>
              <a:rPr lang="en-ID" b="1" dirty="0"/>
              <a:t> </a:t>
            </a:r>
            <a:r>
              <a:rPr lang="en-ID" b="1" dirty="0" err="1"/>
              <a:t>Jawaban</a:t>
            </a:r>
            <a:r>
              <a:rPr lang="en-ID" b="1" dirty="0"/>
              <a:t> (Output Phase)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1D446-1E90-721F-5ECE-666824A13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Jawaban</a:t>
            </a:r>
            <a:r>
              <a:rPr lang="en-ID" dirty="0"/>
              <a:t>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user.</a:t>
            </a:r>
          </a:p>
          <a:p>
            <a:r>
              <a:rPr lang="en-ID" b="1" dirty="0"/>
              <a:t>History Management:</a:t>
            </a:r>
            <a:r>
              <a:rPr lang="en-ID" dirty="0"/>
              <a:t> Chatbot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riwayat</a:t>
            </a:r>
            <a:r>
              <a:rPr lang="en-ID" dirty="0"/>
              <a:t> </a:t>
            </a:r>
            <a:r>
              <a:rPr lang="en-ID" dirty="0" err="1"/>
              <a:t>pesan</a:t>
            </a:r>
            <a:r>
              <a:rPr lang="en-ID" dirty="0"/>
              <a:t> </a:t>
            </a:r>
            <a:r>
              <a:rPr lang="en-ID" dirty="0" err="1"/>
              <a:t>terakhir</a:t>
            </a:r>
            <a:r>
              <a:rPr lang="en-ID" dirty="0"/>
              <a:t> di </a:t>
            </a:r>
            <a:r>
              <a:rPr lang="en-ID" dirty="0" err="1"/>
              <a:t>memori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 </a:t>
            </a:r>
            <a:r>
              <a:rPr lang="en-ID" dirty="0" err="1"/>
              <a:t>percakapan</a:t>
            </a:r>
            <a:r>
              <a:rPr lang="en-ID" dirty="0"/>
              <a:t> yang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berlangsung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4761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5CC0-4191-3523-7262-FCAF04AC5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Rekomendasi</a:t>
            </a:r>
            <a:r>
              <a:rPr lang="en-US" b="1" dirty="0"/>
              <a:t> </a:t>
            </a:r>
            <a:r>
              <a:rPr lang="en-US" b="1" dirty="0" err="1"/>
              <a:t>Spesifikasi</a:t>
            </a:r>
            <a:r>
              <a:rPr lang="en-US" b="1" dirty="0"/>
              <a:t> Server (Prod)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1FB44-91AC-6A93-2602-841FC1A73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b="1" dirty="0"/>
              <a:t>Skala </a:t>
            </a:r>
            <a:r>
              <a:rPr lang="en-ID" b="1" dirty="0" err="1"/>
              <a:t>Menengah</a:t>
            </a:r>
            <a:r>
              <a:rPr lang="en-ID" b="1" dirty="0"/>
              <a:t> (</a:t>
            </a:r>
            <a:r>
              <a:rPr lang="en-ID" b="1" dirty="0" err="1"/>
              <a:t>Bisnis</a:t>
            </a:r>
            <a:r>
              <a:rPr lang="en-ID" b="1" dirty="0"/>
              <a:t> Lokal / 100 - 500 </a:t>
            </a:r>
            <a:r>
              <a:rPr lang="en-ID" b="1" dirty="0" err="1"/>
              <a:t>Pengguna</a:t>
            </a:r>
            <a:r>
              <a:rPr lang="en-ID" b="1" dirty="0"/>
              <a:t> </a:t>
            </a:r>
            <a:r>
              <a:rPr lang="en-ID" b="1" dirty="0" err="1"/>
              <a:t>Aktif</a:t>
            </a:r>
            <a:r>
              <a:rPr lang="en-ID" b="1" dirty="0"/>
              <a:t>/Hari)</a:t>
            </a:r>
            <a:endParaRPr lang="en-ID" dirty="0"/>
          </a:p>
          <a:p>
            <a:pPr marL="0" indent="0">
              <a:buNone/>
            </a:pPr>
            <a:r>
              <a:rPr lang="en-ID" i="1" dirty="0"/>
              <a:t>Sangat </a:t>
            </a:r>
            <a:r>
              <a:rPr lang="en-ID" i="1" dirty="0" err="1"/>
              <a:t>disarankan</a:t>
            </a:r>
            <a:r>
              <a:rPr lang="en-ID" i="1" dirty="0"/>
              <a:t> </a:t>
            </a:r>
            <a:r>
              <a:rPr lang="en-ID" i="1" dirty="0" err="1"/>
              <a:t>menggunakan</a:t>
            </a:r>
            <a:r>
              <a:rPr lang="en-ID" i="1" dirty="0"/>
              <a:t> GPU agar </a:t>
            </a:r>
            <a:r>
              <a:rPr lang="en-ID" i="1" dirty="0" err="1"/>
              <a:t>pengguna</a:t>
            </a:r>
            <a:r>
              <a:rPr lang="en-ID" i="1" dirty="0"/>
              <a:t> </a:t>
            </a:r>
            <a:r>
              <a:rPr lang="en-ID" i="1" dirty="0" err="1"/>
              <a:t>tidak</a:t>
            </a:r>
            <a:r>
              <a:rPr lang="en-ID" i="1" dirty="0"/>
              <a:t> </a:t>
            </a:r>
            <a:r>
              <a:rPr lang="en-ID" i="1" dirty="0" err="1"/>
              <a:t>menunggu</a:t>
            </a:r>
            <a:r>
              <a:rPr lang="en-ID" i="1" dirty="0"/>
              <a:t> lama.</a:t>
            </a:r>
            <a:endParaRPr lang="en-ID" dirty="0"/>
          </a:p>
          <a:p>
            <a:pPr lvl="0"/>
            <a:r>
              <a:rPr lang="en-ID" b="1" dirty="0"/>
              <a:t>CPU:</a:t>
            </a:r>
            <a:r>
              <a:rPr lang="en-ID" dirty="0"/>
              <a:t> 8 vCPU.</a:t>
            </a:r>
          </a:p>
          <a:p>
            <a:pPr lvl="0"/>
            <a:r>
              <a:rPr lang="en-ID" b="1" dirty="0"/>
              <a:t>RAM:</a:t>
            </a:r>
            <a:r>
              <a:rPr lang="en-ID" dirty="0"/>
              <a:t> 16 GB - 32 GB.</a:t>
            </a:r>
          </a:p>
          <a:p>
            <a:pPr lvl="0"/>
            <a:r>
              <a:rPr lang="en-ID" b="1" dirty="0"/>
              <a:t>GPU:</a:t>
            </a:r>
            <a:r>
              <a:rPr lang="en-ID" dirty="0"/>
              <a:t> </a:t>
            </a:r>
            <a:r>
              <a:rPr lang="en-ID" b="1" dirty="0"/>
              <a:t>NVIDIA T4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b="1" dirty="0"/>
              <a:t>A10G</a:t>
            </a:r>
            <a:r>
              <a:rPr lang="en-ID" dirty="0"/>
              <a:t> (minimal 8GB - 16GB VRAM). GPU </a:t>
            </a:r>
            <a:r>
              <a:rPr lang="en-ID" dirty="0" err="1"/>
              <a:t>ini</a:t>
            </a:r>
            <a:r>
              <a:rPr lang="en-ID" dirty="0"/>
              <a:t> sangat </a:t>
            </a:r>
            <a:r>
              <a:rPr lang="en-ID" dirty="0" err="1"/>
              <a:t>krusial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menjalankan</a:t>
            </a:r>
            <a:r>
              <a:rPr lang="en-ID" dirty="0"/>
              <a:t> gemma3:4b </a:t>
            </a:r>
            <a:r>
              <a:rPr lang="en-ID" dirty="0" err="1"/>
              <a:t>atau</a:t>
            </a:r>
            <a:r>
              <a:rPr lang="en-ID" dirty="0"/>
              <a:t> llama3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lancar</a:t>
            </a:r>
            <a:r>
              <a:rPr lang="en-ID" dirty="0"/>
              <a:t>.</a:t>
            </a:r>
          </a:p>
          <a:p>
            <a:pPr lvl="0"/>
            <a:r>
              <a:rPr lang="en-ID" b="1" dirty="0"/>
              <a:t>Storage:</a:t>
            </a:r>
            <a:r>
              <a:rPr lang="en-ID" dirty="0"/>
              <a:t> 100 GB </a:t>
            </a:r>
            <a:r>
              <a:rPr lang="en-ID" dirty="0" err="1"/>
              <a:t>NVMe</a:t>
            </a:r>
            <a:r>
              <a:rPr lang="en-ID" dirty="0"/>
              <a:t> SSD.</a:t>
            </a:r>
          </a:p>
          <a:p>
            <a:pPr lvl="0"/>
            <a:r>
              <a:rPr lang="en-ID" b="1" dirty="0" err="1"/>
              <a:t>Opsi</a:t>
            </a:r>
            <a:r>
              <a:rPr lang="en-ID" b="1" dirty="0"/>
              <a:t> Cloud:</a:t>
            </a:r>
            <a:r>
              <a:rPr lang="en-ID" dirty="0"/>
              <a:t> Google Cloud g2-standard-8 (</a:t>
            </a:r>
            <a:r>
              <a:rPr lang="en-ID" dirty="0" err="1"/>
              <a:t>dengan</a:t>
            </a:r>
            <a:r>
              <a:rPr lang="en-ID" dirty="0"/>
              <a:t> NVIDIA L4) </a:t>
            </a:r>
            <a:r>
              <a:rPr lang="en-ID" dirty="0" err="1"/>
              <a:t>atau</a:t>
            </a:r>
            <a:r>
              <a:rPr lang="en-ID" dirty="0"/>
              <a:t> Azure NCas_v3.</a:t>
            </a:r>
          </a:p>
        </p:txBody>
      </p:sp>
    </p:spTree>
    <p:extLst>
      <p:ext uri="{BB962C8B-B14F-4D97-AF65-F5344CB8AC3E}">
        <p14:creationId xmlns:p14="http://schemas.microsoft.com/office/powerpoint/2010/main" val="609563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637</Words>
  <Application>Microsoft Office PowerPoint</Application>
  <PresentationFormat>Widescreen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Enterprise AI Chatbot</vt:lpstr>
      <vt:lpstr>PowerPoint Presentation</vt:lpstr>
      <vt:lpstr>Arsitektur Mesin RAG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Dokumentasi Alur Proses Chatbot AI (RAG System)</vt:lpstr>
      <vt:lpstr>1. Tahap Persiapan Data (Ingestion Phase)</vt:lpstr>
      <vt:lpstr>2. Tahap Penerimaan Pesan (Input Phase)</vt:lpstr>
      <vt:lpstr>3. Tahap Pencarian Informasi (Retrieval Phase)</vt:lpstr>
      <vt:lpstr>4. Tahap Pembuatan Jawaban (Augmentation &amp; Generation)</vt:lpstr>
      <vt:lpstr>5. Tahap Pengiriman Jawaban (Output Phase)</vt:lpstr>
      <vt:lpstr>Rekomendasi Spesifikasi Server (Prod)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windy sura wijaya purwana</dc:creator>
  <cp:lastModifiedBy>windy sura wijaya purwana</cp:lastModifiedBy>
  <cp:revision>12</cp:revision>
  <dcterms:created xsi:type="dcterms:W3CDTF">2026-02-12T04:27:28Z</dcterms:created>
  <dcterms:modified xsi:type="dcterms:W3CDTF">2026-05-12T06:46:46Z</dcterms:modified>
</cp:coreProperties>
</file>